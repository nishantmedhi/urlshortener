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972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CC2B5"/>
                </a:solidFill>
                <a:latin typeface="Aptos"/>
              </a:rPr>
              <a:t>URL SHORTENER | ENGINEERING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Architecture, Design
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6D6E5"/>
                </a:solidFill>
                <a:latin typeface="Aptos"/>
              </a:rPr>
              <a:t>Python service • durable analytics • Kubernetes rollouts • governed 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0819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Implementation reference | 25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1. What the system delivers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Core capabilities and design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6D6E5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43A"/>
                </a:solidFill>
                <a:latin typeface="Aptos Display"/>
              </a:rPr>
              <a:t>Short links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Validated HTTP/HTTPS destinations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Optional unique aliases and expiry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302 / 404 / 410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43A"/>
                </a:solidFill>
                <a:latin typeface="Aptos Display"/>
              </a:rPr>
              <a:t>Durable analytics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Redirect event acknowledged by broker before 302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Idempotent PostgreSQL click persistence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Per-link daily and total 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17320"/>
            <a:ext cx="352044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43A"/>
                </a:solidFill>
                <a:latin typeface="Aptos Display"/>
              </a:rPr>
              <a:t>Governed delivery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Kubernetes health and resource controls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Blue/green and canary rollout gates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Human approval groups and audit lineage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77639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Primary trade-off: redirect requests fail with 503 when durable event publication cannot be confirmed. This protects analytics integrity but reduces availability during broker outages.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6D6E5"/>
                </a:solidFill>
                <a:latin typeface="Aptos"/>
              </a:rPr>
              <a:t>This is a runnable prototype and measured reference—not a production HA/capacity certification.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2. Runtime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Stateless API with separate durable event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6D6E5"/>
                </a:solidFill>
                <a:latin typeface="Aptos"/>
              </a:rPr>
              <a:t>3</a:t>
            </a:r>
          </a:p>
        </p:txBody>
      </p:sp>
      <p:pic>
        <p:nvPicPr>
          <p:cNvPr id="5" name="Picture 4" descr="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80160"/>
            <a:ext cx="1129284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3. Create-link and redirect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Write flow plus consistency boundary on hot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6D6E5"/>
                </a:solidFill>
                <a:latin typeface="Aptos"/>
              </a:rPr>
              <a:t>4</a:t>
            </a:r>
          </a:p>
        </p:txBody>
      </p:sp>
      <p:pic>
        <p:nvPicPr>
          <p:cNvPr id="5" name="Picture 4" descr="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5623560" cy="2862072"/>
          </a:xfrm>
          <a:prstGeom prst="rect">
            <a:avLst/>
          </a:prstGeom>
        </p:spPr>
      </p:pic>
      <p:pic>
        <p:nvPicPr>
          <p:cNvPr id="6" name="Picture 5" descr="redi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298448"/>
            <a:ext cx="5623560" cy="28620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407408"/>
            <a:ext cx="5349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POST /api/v1/links
Pydantic validates; PostgreSQL key enforces uniqueness. Generated codes use secrets-based randomness.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4407408"/>
            <a:ext cx="5349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GET /{code}
Redis → PostgreSQL fallback → expiry check → broker ack → 302. Broker failure returns 503.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4. Analytics is durable and replay-safe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Broker acknowledgement is synchronous; database aggregation follows asynchronously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6D6E5"/>
                </a:solidFill>
                <a:latin typeface="Aptos"/>
              </a:rPr>
              <a:t>5</a:t>
            </a:r>
          </a:p>
        </p:txBody>
      </p:sp>
      <p:pic>
        <p:nvPicPr>
          <p:cNvPr id="5" name="Picture 4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61872"/>
            <a:ext cx="1129284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event_id primary key + ON CONFLICT DO NOTHING • offsets commit after DB writes • malformed events go to DLQ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5. Technology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Selected for a runnable prototype and clear reliability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6D6E5"/>
                </a:solidFill>
                <a:latin typeface="Aptos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53312"/>
            <a:ext cx="3017520" cy="6675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4243A"/>
                </a:solidFill>
                <a:latin typeface="Aptos Display"/>
              </a:rPr>
              <a:t>FastAPI + Pydantic</a:t>
            </a:r>
          </a:p>
          <a:p>
            <a:pPr>
              <a:spcAft>
                <a:spcPts val="200"/>
              </a:spcAft>
              <a:defRPr sz="1000">
                <a:solidFill>
                  <a:srgbClr val="263746"/>
                </a:solidFill>
                <a:latin typeface="Aptos"/>
              </a:defRPr>
            </a:pPr>
            <a:r>
              <a:t>Async Python API, input contracts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426464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Django REST adds batteries; Go/Java may suit different throughput/team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39696"/>
            <a:ext cx="3017520" cy="6675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4243A"/>
                </a:solidFill>
                <a:latin typeface="Aptos Display"/>
              </a:rPr>
              <a:t>PostgreSQL + asyncpg</a:t>
            </a:r>
          </a:p>
          <a:p>
            <a:pPr>
              <a:spcAft>
                <a:spcPts val="200"/>
              </a:spcAft>
              <a:defRPr sz="1000">
                <a:solidFill>
                  <a:srgbClr val="263746"/>
                </a:solidFill>
                <a:latin typeface="Aptos"/>
              </a:defRPr>
            </a:pPr>
            <a:r>
              <a:t>Relational integrity + range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21284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NoSQL offers key-scale but complicates aggregation/transactions.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26079"/>
            <a:ext cx="3017520" cy="6675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4243A"/>
                </a:solidFill>
                <a:latin typeface="Aptos Display"/>
              </a:rPr>
              <a:t>Redis</a:t>
            </a:r>
          </a:p>
          <a:p>
            <a:pPr>
              <a:spcAft>
                <a:spcPts val="200"/>
              </a:spcAft>
              <a:defRPr sz="1000">
                <a:solidFill>
                  <a:srgbClr val="263746"/>
                </a:solidFill>
                <a:latin typeface="Aptos"/>
              </a:defRPr>
            </a:pPr>
            <a:r>
              <a:t>Shared TTL read-through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999232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Process cache is non-shared; Memcached is viable but simpler.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712463"/>
            <a:ext cx="3017520" cy="6675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4243A"/>
                </a:solidFill>
                <a:latin typeface="Aptos Display"/>
              </a:rPr>
              <a:t>Redpanda / Kafka API</a:t>
            </a:r>
          </a:p>
          <a:p>
            <a:pPr>
              <a:spcAft>
                <a:spcPts val="200"/>
              </a:spcAft>
              <a:defRPr sz="1000">
                <a:solidFill>
                  <a:srgbClr val="263746"/>
                </a:solidFill>
                <a:latin typeface="Aptos"/>
              </a:defRPr>
            </a:pPr>
            <a:r>
              <a:t>Partitioned durable event log + 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785615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Managed Kafka reduces ops; RabbitMQ is more queue-oriented.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98848"/>
            <a:ext cx="3017520" cy="6675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4243A"/>
                </a:solidFill>
                <a:latin typeface="Aptos Display"/>
              </a:rPr>
              <a:t>Kubernetes + Kustomize</a:t>
            </a:r>
          </a:p>
          <a:p>
            <a:pPr>
              <a:spcAft>
                <a:spcPts val="200"/>
              </a:spcAft>
              <a:defRPr sz="1000">
                <a:solidFill>
                  <a:srgbClr val="263746"/>
                </a:solidFill>
                <a:latin typeface="Aptos"/>
              </a:defRPr>
            </a:pPr>
            <a:r>
              <a:t>Portable scheduling, overlays, resource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5720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Helm offers packaging; managed PaaS lowers ops but reduces portability.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285232"/>
            <a:ext cx="3017520" cy="6675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4243A"/>
                </a:solidFill>
                <a:latin typeface="Aptos Display"/>
              </a:rPr>
              <a:t>Argo Rollouts + GitOps</a:t>
            </a:r>
          </a:p>
          <a:p>
            <a:pPr>
              <a:spcAft>
                <a:spcPts val="200"/>
              </a:spcAft>
              <a:defRPr sz="1000">
                <a:solidFill>
                  <a:srgbClr val="263746"/>
                </a:solidFill>
                <a:latin typeface="Aptos"/>
              </a:defRPr>
            </a:pPr>
            <a:r>
              <a:t>Traffic gates, analysis, promotion/undo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5358384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Flux/Argo CD are alternatives for reconciliation, not both on same resources.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6. Data model and 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PostgreSQL source of truth; click events are idempotent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6D6E5"/>
                </a:solidFill>
                <a:latin typeface="Apto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920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4243A"/>
                </a:solidFill>
                <a:latin typeface="Aptos Display"/>
              </a:rPr>
              <a:t>links</a:t>
            </a:r>
          </a:p>
          <a:p>
            <a:pPr>
              <a:spcAft>
                <a:spcPts val="2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code TEXT PRIMARY KEY</a:t>
            </a:r>
          </a:p>
          <a:p>
            <a:pPr>
              <a:spcAft>
                <a:spcPts val="2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destination TEXT NOT NULL</a:t>
            </a:r>
          </a:p>
          <a:p>
            <a:pPr>
              <a:spcAft>
                <a:spcPts val="2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created_at TIMESTAMPTZ</a:t>
            </a:r>
          </a:p>
          <a:p>
            <a:pPr>
              <a:spcAft>
                <a:spcPts val="2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expires_at TIMESTAMPTZ NULL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12080" cy="1920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4243A"/>
                </a:solidFill>
                <a:latin typeface="Aptos Display"/>
              </a:rPr>
              <a:t>clicks</a:t>
            </a:r>
          </a:p>
          <a:p>
            <a:pPr>
              <a:spcAft>
                <a:spcPts val="2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event_id UUID PRIMARY KEY</a:t>
            </a:r>
          </a:p>
          <a:p>
            <a:pPr>
              <a:spcAft>
                <a:spcPts val="2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code FK → links(code)</a:t>
            </a:r>
          </a:p>
          <a:p>
            <a:pPr>
              <a:spcAft>
                <a:spcPts val="2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clicked_at TIMESTAMPTZ</a:t>
            </a:r>
          </a:p>
          <a:p>
            <a:pPr>
              <a:spcAft>
                <a:spcPts val="2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Index (code, clicked_at DESC)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Redis cache entries are disposable and TTL is bounded by remaining link life.
Analytics rows are eventually visible after consumer commit.
Duplicate event delivery is suppressed by event_id; offsets commit only after database write.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7. Reliability, security,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Controls and important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6D6E5"/>
                </a:solidFill>
                <a:latin typeface="Aptos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71600"/>
            <a:ext cx="356616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43A"/>
                </a:solidFill>
                <a:latin typeface="Aptos Display"/>
              </a:rPr>
              <a:t>Reliability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Readiness / liveness / startup probes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PDB and resource budgets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Bounded event publish timeout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DLQ and consumer replay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371600"/>
            <a:ext cx="356616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43A"/>
                </a:solidFill>
                <a:latin typeface="Aptos Display"/>
              </a:rPr>
              <a:t>Security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Non-root UID 10001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Read-only root filesystem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No added capabilities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TLS/network policy templates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371600"/>
            <a:ext cx="356616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6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43A"/>
                </a:solidFill>
                <a:latin typeface="Aptos Display"/>
              </a:rPr>
              <a:t>Observability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Prometheus API + worker metrics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Grafana dashboard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Redirect latency/outcome signals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Workflow reliability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Production gaps: authentication, rate limiting, TLS configuration, managed HA data services, backup/restore drills, metrics-server/HPA validation, and identity-backed approvals.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8. Kubernetes and release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Base resources with local / canary / dedicated / production overlays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6D6E5"/>
                </a:solidFill>
                <a:latin typeface="Aptos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53312"/>
            <a:ext cx="365760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43A"/>
                </a:solidFill>
                <a:latin typeface="Aptos Display"/>
              </a:rPr>
              <a:t>Availability controls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3 API + 3 worker baseline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HPA 3–20 / 3–12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PDB, probes, topology hints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CPU &amp; memory requests/limits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1353312"/>
            <a:ext cx="365760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43A"/>
                </a:solidFill>
                <a:latin typeface="Aptos Display"/>
              </a:rPr>
              <a:t>Blue/green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Preview ReplicaSet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Prometheus pre-promotion analysis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Manual promote gate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Abort / undo with approval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353312"/>
            <a:ext cx="365760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43A"/>
                </a:solidFill>
                <a:latin typeface="Aptos Display"/>
              </a:rPr>
              <a:t>Canary + GitOps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20% → analysis → 50% pause → 100%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Argo CD OR Flux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Protected repo and immutable image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Production metrics need version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Local dependencies are single replicas; Docker Desktop is one node. etcd belongs to the Kubernetes control plane—not this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9. Governed SDLC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Stateful DAG with parallel validation, explicit lineage, and human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6D6E5"/>
                </a:solidFill>
                <a:latin typeface="Aptos"/>
              </a:rPr>
              <a:t>10</a:t>
            </a:r>
          </a:p>
        </p:txBody>
      </p:sp>
      <p:pic>
        <p:nvPicPr>
          <p:cNvPr id="5" name="Picture 4" descr="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25880"/>
            <a:ext cx="1129284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Distinct approvals: security → compliance → change control → release | retry / fallback / rollback / safe-stop / re-plan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10. Verification and test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Automated checks plus live local Kubernetes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6D6E5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3520440" cy="2057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43A"/>
                </a:solidFill>
                <a:latin typeface="Aptos Display"/>
              </a:rPr>
              <a:t>Unit + workflow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28 Python tests passed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Input validation and redirect behavior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DAG, parallelism and gates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Retries, fallback, rollback, re-plan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53312"/>
            <a:ext cx="3520440" cy="2057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5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43A"/>
                </a:solidFill>
                <a:latin typeface="Aptos Display"/>
              </a:rPr>
              <a:t>Manifests + container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5 Kustomize overlays rendered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Schema parity passed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Docker image build/non-root check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Manifest tests for rollout/security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353312"/>
            <a:ext cx="3520440" cy="2057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43A"/>
                </a:solidFill>
                <a:latin typeface="Aptos Display"/>
              </a:rPr>
              <a:t>Live K8s E2E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Blue/green promotion and undo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Canary analysis + manual pause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Preview create/redirect/analytics</a:t>
            </a:r>
          </a:p>
          <a:p>
            <a:pPr>
              <a:spcAft>
                <a:spcPts val="200"/>
              </a:spcAft>
              <a:defRPr sz="1200">
                <a:solidFill>
                  <a:srgbClr val="263746"/>
                </a:solidFill>
                <a:latin typeface="Aptos"/>
              </a:defRPr>
            </a:pPr>
            <a:r>
              <a:t>Promoted active service healthy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Local one-node cluster: deployment behavior was exercised, but multi-node HA, production ingress/CNI policies, and CPU-driven HPA were not validated.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11. 1,000 redirects per second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Two 60-second constant-arrival runs through the Kubernetes active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6D6E5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2240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4243A"/>
                </a:solidFill>
                <a:latin typeface="Aptos Display"/>
              </a:rPr>
              <a:t>Run 1</a:t>
            </a:r>
          </a:p>
          <a:p>
            <a:pPr>
              <a:spcAft>
                <a:spcPts val="200"/>
              </a:spcAft>
              <a:defRPr sz="1500">
                <a:solidFill>
                  <a:srgbClr val="263746"/>
                </a:solidFill>
                <a:latin typeface="Aptos"/>
              </a:defRPr>
            </a:pPr>
            <a:r>
              <a:t>60,001 successful 302 checks</a:t>
            </a:r>
          </a:p>
          <a:p>
            <a:pPr>
              <a:spcAft>
                <a:spcPts val="200"/>
              </a:spcAft>
              <a:defRPr sz="1500">
                <a:solidFill>
                  <a:srgbClr val="263746"/>
                </a:solidFill>
                <a:latin typeface="Aptos"/>
              </a:defRPr>
            </a:pPr>
            <a:r>
              <a:t>0 failed HTTP requests</a:t>
            </a:r>
          </a:p>
          <a:p>
            <a:pPr>
              <a:spcAft>
                <a:spcPts val="200"/>
              </a:spcAft>
              <a:defRPr sz="1500">
                <a:solidFill>
                  <a:srgbClr val="263746"/>
                </a:solidFill>
                <a:latin typeface="Aptos"/>
              </a:defRPr>
            </a:pPr>
            <a:r>
              <a:t>p95 6.96 ms</a:t>
            </a:r>
          </a:p>
          <a:p>
            <a:pPr>
              <a:spcAft>
                <a:spcPts val="200"/>
              </a:spcAft>
              <a:defRPr sz="1500">
                <a:solidFill>
                  <a:srgbClr val="263746"/>
                </a:solidFill>
                <a:latin typeface="Aptos"/>
              </a:defRPr>
            </a:pPr>
            <a:r>
              <a:t>p99 508.42 ms — narrowly missed 500 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074920" cy="2240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3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09728" wrap="square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4243A"/>
                </a:solidFill>
                <a:latin typeface="Aptos Display"/>
              </a:rPr>
              <a:t>Warmed repeat</a:t>
            </a:r>
          </a:p>
          <a:p>
            <a:pPr>
              <a:spcAft>
                <a:spcPts val="200"/>
              </a:spcAft>
              <a:defRPr sz="1500">
                <a:solidFill>
                  <a:srgbClr val="263746"/>
                </a:solidFill>
                <a:latin typeface="Aptos"/>
              </a:defRPr>
            </a:pPr>
            <a:r>
              <a:t>60,000 successful 302 checks</a:t>
            </a:r>
          </a:p>
          <a:p>
            <a:pPr>
              <a:spcAft>
                <a:spcPts val="200"/>
              </a:spcAft>
              <a:defRPr sz="1500">
                <a:solidFill>
                  <a:srgbClr val="263746"/>
                </a:solidFill>
                <a:latin typeface="Aptos"/>
              </a:defRPr>
            </a:pPr>
            <a:r>
              <a:t>0 failed HTTP requests</a:t>
            </a:r>
          </a:p>
          <a:p>
            <a:pPr>
              <a:spcAft>
                <a:spcPts val="200"/>
              </a:spcAft>
              <a:defRPr sz="1500">
                <a:solidFill>
                  <a:srgbClr val="263746"/>
                </a:solidFill>
                <a:latin typeface="Aptos"/>
              </a:defRPr>
            </a:pPr>
            <a:r>
              <a:t>p95 8.62 ms</a:t>
            </a:r>
          </a:p>
          <a:p>
            <a:pPr>
              <a:spcAft>
                <a:spcPts val="200"/>
              </a:spcAft>
              <a:defRPr sz="1500">
                <a:solidFill>
                  <a:srgbClr val="263746"/>
                </a:solidFill>
                <a:latin typeface="Aptos"/>
              </a:defRPr>
            </a:pPr>
            <a:r>
              <a:t>p99 244.46 ms — thresholds 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After both tests and smoke checks, PostgreSQL held 120,003 click records.
Observed single-machine results only; not a production capacity/SLO claim.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12. Production readiness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6D6E5"/>
                </a:solidFill>
                <a:latin typeface="Aptos"/>
              </a:rPr>
              <a:t>Close the biggest safety, availability, and evidence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967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6D6E5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1  Add identity, authentication, tenant authorization, rate limiting and URL-abuse controls.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084832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2  Replace local single replicas with managed multi-zone PostgreSQL, Redis and Kafka-compatible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98064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3  Validate sustained throughput with realistic traffic, multiple generators, resource and consumer-lag telemetry.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511296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4  Enable metrics-server/adapter and prove HPA behavior; test backup/restore, failover and node disruption.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224528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5  Make canary analysis version-specific; bind approvals to SSO/RBAC, protected changes and immutable artifacts.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937760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6  Define click retention, DLQ replay, schema evolution, privacy controls, SLOs and runbooks.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8978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C2B5"/>
                </a:solidFill>
                <a:latin typeface="Aptos"/>
              </a:rPr>
              <a:t>After the recorded test, app/controller resources and port-forwards were removed; Kubernetes remained enabled.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